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8" d="100"/>
          <a:sy n="78" d="100"/>
        </p:scale>
        <p:origin x="850" y="6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365708" name="Google Shape;3;n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010811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7391909" name="Google Shape;81;p1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22336223" name="Google Shape;82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48685" name="Google Shape;93;p2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3720084" name="Google Shape;94;p2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012406" name="Google Shape;118;p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09772381" name="Google Shape;119;p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616343" name="Google Shape;134;p4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72879385" name="Google Shape;135;p4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570650" name="Google Shape;147;p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44085176" name="Google Shape;148;p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74171" name="Google Shape;12;p2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42433268" name="Google Shape;13;p2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85250060" name="Google Shape;14;p2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5251695" name="Google Shape;16;p3"/>
          <p:cNvSpPr txBox="1"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533229" name="Google Shape;17;p3"/>
          <p:cNvSpPr txBox="1"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90820767" name="Google Shape;18;p3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68968392" name="Google Shape;19;p3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53798929" name="Google Shape;20;p3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187475" name="Google Shape;22;p4"/>
          <p:cNvSpPr txBox="1"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39389617" name="Google Shape;23;p4"/>
          <p:cNvSpPr txBox="1"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50690102" name="Google Shape;24;p4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71425892" name="Google Shape;25;p4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28227163" name="Google Shape;26;p4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019374" name="Google Shape;28;p5"/>
          <p:cNvSpPr txBox="1"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04236138" name="Google Shape;29;p5"/>
          <p:cNvSpPr txBox="1"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53657914" name="Google Shape;30;p5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04386976" name="Google Shape;31;p5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03265226" name="Google Shape;32;p5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270449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60717574" name="Google Shape;35;p6"/>
          <p:cNvSpPr txBox="1">
            <a:spLocks noGrp="1"/>
          </p:cNvSpPr>
          <p:nvPr>
            <p:ph type="body" idx="1"/>
          </p:nvPr>
        </p:nvSpPr>
        <p:spPr bwMode="auto"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280347018" name="Google Shape;36;p6"/>
          <p:cNvSpPr txBox="1">
            <a:spLocks noGrp="1"/>
          </p:cNvSpPr>
          <p:nvPr>
            <p:ph type="body" idx="2"/>
          </p:nvPr>
        </p:nvSpPr>
        <p:spPr bwMode="auto"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224777782" name="Google Shape;37;p6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82554486" name="Google Shape;38;p6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00182028" name="Google Shape;39;p6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ison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274722" name="Google Shape;41;p7"/>
          <p:cNvSpPr txBox="1"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71622802" name="Google Shape;42;p7"/>
          <p:cNvSpPr txBox="1"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755567391" name="Google Shape;43;p7"/>
          <p:cNvSpPr txBox="1">
            <a:spLocks noGrp="1"/>
          </p:cNvSpPr>
          <p:nvPr>
            <p:ph type="body" idx="2"/>
          </p:nvPr>
        </p:nvSpPr>
        <p:spPr bwMode="auto"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953145415" name="Google Shape;44;p7"/>
          <p:cNvSpPr txBox="1">
            <a:spLocks noGrp="1"/>
          </p:cNvSpPr>
          <p:nvPr>
            <p:ph type="body" idx="3"/>
          </p:nvPr>
        </p:nvSpPr>
        <p:spPr bwMode="auto"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2070625677" name="Google Shape;45;p7"/>
          <p:cNvSpPr txBox="1">
            <a:spLocks noGrp="1"/>
          </p:cNvSpPr>
          <p:nvPr>
            <p:ph type="body" idx="4"/>
          </p:nvPr>
        </p:nvSpPr>
        <p:spPr bwMode="auto"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770289793" name="Google Shape;46;p7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93579046" name="Google Shape;47;p7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63242697" name="Google Shape;48;p7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708051" name="Google Shape;50;p8"/>
          <p:cNvSpPr txBox="1"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52333964" name="Google Shape;51;p8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02939218" name="Google Shape;52;p8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61275726" name="Google Shape;53;p8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 with Caption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107569" name="Google Shape;55;p9"/>
          <p:cNvSpPr txBox="1"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1501357" name="Google Shape;56;p9"/>
          <p:cNvSpPr txBox="1">
            <a:spLocks noGrp="1"/>
          </p:cNvSpPr>
          <p:nvPr>
            <p:ph type="body" idx="1"/>
          </p:nvPr>
        </p:nvSpPr>
        <p:spPr bwMode="auto"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614839601" name="Google Shape;57;p9"/>
          <p:cNvSpPr txBox="1">
            <a:spLocks noGrp="1"/>
          </p:cNvSpPr>
          <p:nvPr>
            <p:ph type="body" idx="2"/>
          </p:nvPr>
        </p:nvSpPr>
        <p:spPr bwMode="auto"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1293674638" name="Google Shape;58;p9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73274402" name="Google Shape;59;p9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00627510" name="Google Shape;60;p9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icture with Caption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993885" name="Google Shape;62;p10"/>
          <p:cNvSpPr txBox="1"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35891238" name="Google Shape;63;p10"/>
          <p:cNvSpPr>
            <a:spLocks noGrp="1"/>
          </p:cNvSpPr>
          <p:nvPr>
            <p:ph type="pic" idx="2"/>
          </p:nvPr>
        </p:nvSpPr>
        <p:spPr bwMode="auto"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041403736" name="Google Shape;64;p10"/>
          <p:cNvSpPr txBox="1">
            <a:spLocks noGrp="1"/>
          </p:cNvSpPr>
          <p:nvPr>
            <p:ph type="body" idx="1"/>
          </p:nvPr>
        </p:nvSpPr>
        <p:spPr bwMode="auto"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451298534" name="Google Shape;65;p10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03643313" name="Google Shape;66;p10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34820586" name="Google Shape;67;p10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Vertical Text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715" name="Google Shape;69;p11"/>
          <p:cNvSpPr txBox="1"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4018684" name="Google Shape;70;p11"/>
          <p:cNvSpPr txBox="1">
            <a:spLocks noGrp="1"/>
          </p:cNvSpPr>
          <p:nvPr>
            <p:ph type="body" idx="1"/>
          </p:nvPr>
        </p:nvSpPr>
        <p:spPr bwMode="auto"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09259295" name="Google Shape;71;p11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0455934" name="Google Shape;72;p11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00172485" name="Google Shape;73;p11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ertical Title and Text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7386700" name="Google Shape;75;p12"/>
          <p:cNvSpPr txBox="1">
            <a:spLocks noGrp="1"/>
          </p:cNvSpPr>
          <p:nvPr>
            <p:ph type="title"/>
          </p:nvPr>
        </p:nvSpPr>
        <p:spPr bwMode="auto"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67621015" name="Google Shape;76;p12"/>
          <p:cNvSpPr txBox="1">
            <a:spLocks noGrp="1"/>
          </p:cNvSpPr>
          <p:nvPr>
            <p:ph type="body" idx="1"/>
          </p:nvPr>
        </p:nvSpPr>
        <p:spPr bwMode="auto"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96718085" name="Google Shape;77;p12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4436441" name="Google Shape;78;p12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53927905" name="Google Shape;79;p12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56920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676795642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799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39244023" name="Google Shape;8;p1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88230513" name="Google Shape;9;p1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72809196" name="Google Shape;10;p1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A0A0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1685290" name="Google Shape;84;p13" descr="image.png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620208" name="Google Shape;85;p13" descr="image.png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2862261" y="4293812"/>
            <a:ext cx="6467475" cy="1261020"/>
          </a:xfrm>
          <a:prstGeom prst="rect">
            <a:avLst/>
          </a:prstGeom>
          <a:noFill/>
          <a:ln>
            <a:noFill/>
          </a:ln>
        </p:spPr>
      </p:pic>
      <p:sp>
        <p:nvSpPr>
          <p:cNvPr id="1361778714" name="Google Shape;86;p13"/>
          <p:cNvSpPr txBox="1"/>
          <p:nvPr/>
        </p:nvSpPr>
        <p:spPr bwMode="auto">
          <a:xfrm>
            <a:off x="5255895" y="1521172"/>
            <a:ext cx="168021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 u="none" strike="noStrike" cap="none">
                <a:solidFill>
                  <a:srgbClr val="666666"/>
                </a:solidFill>
                <a:latin typeface="Urbanist"/>
                <a:ea typeface="Urbanist"/>
                <a:cs typeface="Urbanist"/>
              </a:rPr>
              <a:t>HOŞ GELDINIZ</a:t>
            </a:r>
            <a:endParaRPr/>
          </a:p>
        </p:txBody>
      </p:sp>
      <p:sp>
        <p:nvSpPr>
          <p:cNvPr id="424169770" name="Google Shape;87;p13"/>
          <p:cNvSpPr txBox="1"/>
          <p:nvPr/>
        </p:nvSpPr>
        <p:spPr bwMode="auto">
          <a:xfrm>
            <a:off x="5095875" y="1921222"/>
            <a:ext cx="200025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72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</a:rPr>
              <a:t>ADS</a:t>
            </a:r>
            <a:endParaRPr/>
          </a:p>
        </p:txBody>
      </p:sp>
      <p:sp>
        <p:nvSpPr>
          <p:cNvPr id="1672764426" name="Google Shape;88;p13"/>
          <p:cNvSpPr txBox="1"/>
          <p:nvPr/>
        </p:nvSpPr>
        <p:spPr bwMode="auto">
          <a:xfrm>
            <a:off x="2686050" y="3111847"/>
            <a:ext cx="6819900" cy="1526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b="0" i="0" u="none" strike="noStrike" cap="none">
                <a:solidFill>
                  <a:srgbClr val="00FF9D"/>
                </a:solidFill>
                <a:latin typeface="Urbanist SemiBold"/>
                <a:ea typeface="Urbanist SemiBold"/>
                <a:cs typeface="Urbanist SemiBold"/>
              </a:rPr>
              <a:t>İletişimin</a:t>
            </a:r>
            <a:r>
              <a:rPr lang="en-US" sz="2400" b="0" i="0" u="none" strike="noStrike" cap="none">
                <a:solidFill>
                  <a:srgbClr val="00FF9D"/>
                </a:solidFill>
                <a:latin typeface="Urbanist SemiBold"/>
                <a:ea typeface="Urbanist SemiBold"/>
                <a:cs typeface="Urbanist SemiBold"/>
              </a:rPr>
              <a:t> </a:t>
            </a:r>
            <a:r>
              <a:rPr lang="en-US" sz="2400" b="0" i="0" u="none" strike="noStrike" cap="none">
                <a:solidFill>
                  <a:srgbClr val="00FF9D"/>
                </a:solidFill>
                <a:latin typeface="Urbanist SemiBold"/>
                <a:ea typeface="Urbanist SemiBold"/>
                <a:cs typeface="Urbanist SemiBold"/>
              </a:rPr>
              <a:t>Koptuğu</a:t>
            </a:r>
            <a:r>
              <a:rPr lang="en-US" sz="2400" b="0" i="0" u="none" strike="noStrike" cap="none">
                <a:solidFill>
                  <a:srgbClr val="00FF9D"/>
                </a:solidFill>
                <a:latin typeface="Urbanist SemiBold"/>
                <a:ea typeface="Urbanist SemiBold"/>
                <a:cs typeface="Urbanist SemiBold"/>
              </a:rPr>
              <a:t> </a:t>
            </a:r>
            <a:r>
              <a:rPr lang="en-US" sz="2400" b="0" i="0" u="none" strike="noStrike" cap="none">
                <a:solidFill>
                  <a:srgbClr val="00FF9D"/>
                </a:solidFill>
                <a:latin typeface="Urbanist SemiBold"/>
                <a:ea typeface="Urbanist SemiBold"/>
                <a:cs typeface="Urbanist SemiBold"/>
              </a:rPr>
              <a:t>Yerde</a:t>
            </a:r>
            <a:r>
              <a:rPr lang="en-US" sz="2400" b="0" i="0" u="none" strike="noStrike" cap="none">
                <a:solidFill>
                  <a:srgbClr val="00FF9D"/>
                </a:solidFill>
                <a:latin typeface="Urbanist SemiBold"/>
                <a:ea typeface="Urbanist SemiBold"/>
                <a:cs typeface="Urbanist SemiBold"/>
              </a:rPr>
              <a:t>, Hayat </a:t>
            </a:r>
            <a:r>
              <a:rPr lang="en-US" sz="2400" b="0" i="0" u="none" strike="noStrike" cap="none">
                <a:solidFill>
                  <a:srgbClr val="00FF9D"/>
                </a:solidFill>
                <a:latin typeface="Urbanist SemiBold"/>
                <a:ea typeface="Urbanist SemiBold"/>
                <a:cs typeface="Urbanist SemiBold"/>
              </a:rPr>
              <a:t>Kurtaran</a:t>
            </a:r>
            <a:r>
              <a:rPr lang="en-US" sz="2400" b="0" i="0" u="none" strike="noStrike" cap="none">
                <a:solidFill>
                  <a:srgbClr val="00FF9D"/>
                </a:solidFill>
                <a:latin typeface="Urbanist SemiBold"/>
                <a:ea typeface="Urbanist SemiBold"/>
                <a:cs typeface="Urbanist SemiBold"/>
              </a:rPr>
              <a:t> </a:t>
            </a:r>
            <a:r>
              <a:rPr lang="en-US" sz="2400" b="0" i="0" u="none" strike="noStrike" cap="none">
                <a:solidFill>
                  <a:srgbClr val="00FF9D"/>
                </a:solidFill>
                <a:latin typeface="Urbanist SemiBold"/>
                <a:ea typeface="Urbanist SemiBold"/>
                <a:cs typeface="Urbanist SemiBold"/>
              </a:rPr>
              <a:t>Teknoloji</a:t>
            </a:r>
            <a:endParaRPr lang="en-US" sz="2400" b="0" i="0" u="none" strike="noStrike" cap="none">
              <a:solidFill>
                <a:srgbClr val="00FF9D"/>
              </a:solidFill>
              <a:latin typeface="Urbanist SemiBold"/>
              <a:ea typeface="Urbanist SemiBold"/>
              <a:cs typeface="Urbanist SemiBold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15264795" name="Google Shape;89;p13"/>
          <p:cNvSpPr txBox="1"/>
          <p:nvPr/>
        </p:nvSpPr>
        <p:spPr bwMode="auto">
          <a:xfrm>
            <a:off x="3443286" y="4426222"/>
            <a:ext cx="53054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0525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</a:rPr>
              <a:t>INSOMNIA MENTALLY</a:t>
            </a:r>
            <a:endParaRPr/>
          </a:p>
        </p:txBody>
      </p:sp>
      <p:sp>
        <p:nvSpPr>
          <p:cNvPr id="841514633" name="Google Shape;90;p13"/>
          <p:cNvSpPr txBox="1"/>
          <p:nvPr/>
        </p:nvSpPr>
        <p:spPr bwMode="auto">
          <a:xfrm>
            <a:off x="3443287" y="4784228"/>
            <a:ext cx="5305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</a:rPr>
              <a:t>Toprak Berke Pehlivan • Feyzullah Öztürk • Arda Emre Keçecioğlu</a:t>
            </a:r>
            <a:endParaRPr/>
          </a:p>
        </p:txBody>
      </p:sp>
      <p:pic>
        <p:nvPicPr>
          <p:cNvPr id="140015869" name="Google Shape;91;p13" descr="image.png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 flipH="0" flipV="0">
            <a:off x="4732862" y="4485408"/>
            <a:ext cx="236001" cy="225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A0A0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52027638" name="Google Shape;96;p14" descr="image.png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2703030" name="Google Shape;97;p14" descr="image.png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581025" y="1539329"/>
            <a:ext cx="5324475" cy="4708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9392259" name="Google Shape;98;p14" descr="image.png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6286500" y="1539329"/>
            <a:ext cx="5324475" cy="4708921"/>
          </a:xfrm>
          <a:prstGeom prst="rect">
            <a:avLst/>
          </a:prstGeom>
          <a:noFill/>
          <a:ln>
            <a:noFill/>
          </a:ln>
        </p:spPr>
      </p:pic>
      <p:sp>
        <p:nvSpPr>
          <p:cNvPr id="544694506" name="Google Shape;99;p14"/>
          <p:cNvSpPr txBox="1"/>
          <p:nvPr/>
        </p:nvSpPr>
        <p:spPr bwMode="auto">
          <a:xfrm>
            <a:off x="971550" y="2625179"/>
            <a:ext cx="477059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</a:rPr>
              <a:t>Sunucu &amp; Altyapı</a:t>
            </a:r>
            <a:endParaRPr/>
          </a:p>
        </p:txBody>
      </p:sp>
      <p:sp>
        <p:nvSpPr>
          <p:cNvPr id="1607895133" name="Google Shape;100;p14"/>
          <p:cNvSpPr txBox="1"/>
          <p:nvPr/>
        </p:nvSpPr>
        <p:spPr bwMode="auto">
          <a:xfrm>
            <a:off x="6677025" y="2625179"/>
            <a:ext cx="477059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</a:rPr>
              <a:t>Veri İletişimi &amp; Depolama</a:t>
            </a:r>
            <a:endParaRPr/>
          </a:p>
        </p:txBody>
      </p:sp>
      <p:pic>
        <p:nvPicPr>
          <p:cNvPr id="1289731265" name="Google Shape;101;p14" descr="image.png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971550" y="195842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4898606" name="Google Shape;102;p14"/>
          <p:cNvSpPr txBox="1"/>
          <p:nvPr/>
        </p:nvSpPr>
        <p:spPr bwMode="auto">
          <a:xfrm>
            <a:off x="1209675" y="3091904"/>
            <a:ext cx="43053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Rust &amp; Axum:</a:t>
            </a:r>
            <a:r>
              <a:rPr lang="en-US" sz="1350" b="0" i="0" u="none" strike="noStrike" cap="none">
                <a:solidFill>
                  <a:srgbClr val="B3B3B3"/>
                </a:solidFill>
                <a:latin typeface="Urbanist"/>
                <a:ea typeface="Urbanist"/>
                <a:cs typeface="Urbanist"/>
              </a:rPr>
              <a:t> Yüksek performanslı ve bellek güvenli API mimarisi.</a:t>
            </a:r>
            <a:endParaRPr/>
          </a:p>
        </p:txBody>
      </p:sp>
      <p:sp>
        <p:nvSpPr>
          <p:cNvPr id="1482638235" name="Google Shape;103;p14"/>
          <p:cNvSpPr txBox="1"/>
          <p:nvPr/>
        </p:nvSpPr>
        <p:spPr bwMode="auto">
          <a:xfrm>
            <a:off x="1209675" y="3783359"/>
            <a:ext cx="43053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High Concurrency:</a:t>
            </a:r>
            <a:r>
              <a:rPr lang="en-US" sz="1350" b="0" i="0" u="none" strike="noStrike" cap="none">
                <a:solidFill>
                  <a:srgbClr val="B3B3B3"/>
                </a:solidFill>
                <a:latin typeface="Urbanist"/>
                <a:ea typeface="Urbanist"/>
                <a:cs typeface="Urbanist"/>
              </a:rPr>
              <a:t> Yüksek hacimli eşzamanlı bağlantı yönetimi.</a:t>
            </a:r>
            <a:endParaRPr/>
          </a:p>
        </p:txBody>
      </p:sp>
      <p:sp>
        <p:nvSpPr>
          <p:cNvPr id="1361240883" name="Google Shape;104;p14"/>
          <p:cNvSpPr txBox="1"/>
          <p:nvPr/>
        </p:nvSpPr>
        <p:spPr bwMode="auto">
          <a:xfrm>
            <a:off x="1209675" y="4474815"/>
            <a:ext cx="43053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Docker Compose:</a:t>
            </a:r>
            <a:r>
              <a:rPr lang="en-US" sz="1350" b="0" i="0" u="none" strike="noStrike" cap="none">
                <a:solidFill>
                  <a:srgbClr val="B3B3B3"/>
                </a:solidFill>
                <a:latin typeface="Urbanist"/>
                <a:ea typeface="Urbanist"/>
                <a:cs typeface="Urbanist"/>
              </a:rPr>
              <a:t> İzole edilmiş ortamlar üzerinden tek komutla tüm bileşenlerin ayağa kaldırılması.</a:t>
            </a:r>
            <a:endParaRPr/>
          </a:p>
        </p:txBody>
      </p:sp>
      <p:sp>
        <p:nvSpPr>
          <p:cNvPr id="1786653685" name="Google Shape;105;p14"/>
          <p:cNvSpPr txBox="1"/>
          <p:nvPr/>
        </p:nvSpPr>
        <p:spPr bwMode="auto">
          <a:xfrm>
            <a:off x="1209675" y="5166270"/>
            <a:ext cx="4305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618513557" name="Google Shape;106;p14" descr="image.png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6677025" y="1958429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7551404" name="Google Shape;107;p14"/>
          <p:cNvSpPr txBox="1"/>
          <p:nvPr/>
        </p:nvSpPr>
        <p:spPr bwMode="auto">
          <a:xfrm>
            <a:off x="6915150" y="3091904"/>
            <a:ext cx="43053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EMQX (MQTT Broker):</a:t>
            </a:r>
            <a:r>
              <a:rPr lang="en-US" sz="1350" b="0" i="0" u="none" strike="noStrike" cap="none">
                <a:solidFill>
                  <a:srgbClr val="B3B3B3"/>
                </a:solidFill>
                <a:latin typeface="Urbanist"/>
                <a:ea typeface="Urbanist"/>
                <a:cs typeface="Urbanist"/>
              </a:rPr>
              <a:t> Yüksek hacimli asenkron cihaz ve telemetri mesajlaşma aracısı.</a:t>
            </a:r>
            <a:endParaRPr/>
          </a:p>
        </p:txBody>
      </p:sp>
      <p:sp>
        <p:nvSpPr>
          <p:cNvPr id="1358204666" name="Google Shape;108;p14"/>
          <p:cNvSpPr txBox="1"/>
          <p:nvPr/>
        </p:nvSpPr>
        <p:spPr bwMode="auto">
          <a:xfrm>
            <a:off x="6915150" y="3783359"/>
            <a:ext cx="43053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PostgreSQL &amp; PostGIS:</a:t>
            </a:r>
            <a:r>
              <a:rPr lang="en-US" sz="1350" b="0" i="0" u="none" strike="noStrike" cap="none">
                <a:solidFill>
                  <a:srgbClr val="B3B3B3"/>
                </a:solidFill>
                <a:latin typeface="Urbanist"/>
                <a:ea typeface="Urbanist"/>
                <a:cs typeface="Urbanist"/>
              </a:rPr>
              <a:t> Uzamsal (coğrafi) analizler ve asıl veritabanı yapısı.</a:t>
            </a:r>
            <a:endParaRPr/>
          </a:p>
        </p:txBody>
      </p:sp>
      <p:sp>
        <p:nvSpPr>
          <p:cNvPr id="1160469157" name="Google Shape;109;p14"/>
          <p:cNvSpPr txBox="1"/>
          <p:nvPr/>
        </p:nvSpPr>
        <p:spPr bwMode="auto">
          <a:xfrm>
            <a:off x="6915150" y="4474815"/>
            <a:ext cx="43053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TimescaleDB:</a:t>
            </a:r>
            <a:r>
              <a:rPr lang="en-US" sz="1350" b="0" i="0" u="none" strike="noStrike" cap="none">
                <a:solidFill>
                  <a:srgbClr val="B3B3B3"/>
                </a:solidFill>
                <a:latin typeface="Urbanist"/>
                <a:ea typeface="Urbanist"/>
                <a:cs typeface="Urbanist"/>
              </a:rPr>
              <a:t> Telemetri cihazlarından gelen zaman serisi (time-series) verilerinin depolanması.</a:t>
            </a:r>
            <a:endParaRPr/>
          </a:p>
        </p:txBody>
      </p:sp>
      <p:sp>
        <p:nvSpPr>
          <p:cNvPr id="1951755398" name="Google Shape;110;p14"/>
          <p:cNvSpPr txBox="1"/>
          <p:nvPr/>
        </p:nvSpPr>
        <p:spPr bwMode="auto">
          <a:xfrm>
            <a:off x="581025" y="581025"/>
            <a:ext cx="11581447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</a:rPr>
              <a:t>1. </a:t>
            </a:r>
            <a:r>
              <a:rPr lang="en-US" sz="3600" b="1" i="0" u="none" strike="noStrike" cap="none">
                <a:solidFill>
                  <a:srgbClr val="00FF9D"/>
                </a:solidFill>
                <a:latin typeface="Urbanist"/>
                <a:ea typeface="Urbanist"/>
                <a:cs typeface="Urbanist"/>
              </a:rPr>
              <a:t>Backend</a:t>
            </a: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</a:rPr>
              <a:t> Spesifikasyonları</a:t>
            </a:r>
            <a:endParaRPr/>
          </a:p>
        </p:txBody>
      </p:sp>
      <p:pic>
        <p:nvPicPr>
          <p:cNvPr id="1616440828" name="Google Shape;111;p14" descr="image.png"/>
          <p:cNvPicPr/>
          <p:nvPr/>
        </p:nvPicPr>
        <p:blipFill rotWithShape="1">
          <a:blip r:embed="rId8">
            <a:alphaModFix/>
          </a:blip>
          <a:stretch/>
        </p:blipFill>
        <p:spPr bwMode="auto">
          <a:xfrm>
            <a:off x="971550" y="3110954"/>
            <a:ext cx="762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3763608" name="Google Shape;112;p14" descr="image.png"/>
          <p:cNvPicPr/>
          <p:nvPr/>
        </p:nvPicPr>
        <p:blipFill rotWithShape="1">
          <a:blip r:embed="rId8">
            <a:alphaModFix/>
          </a:blip>
          <a:stretch/>
        </p:blipFill>
        <p:spPr bwMode="auto">
          <a:xfrm>
            <a:off x="971550" y="3802409"/>
            <a:ext cx="762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45633" name="Google Shape;113;p14" descr="image.png"/>
          <p:cNvPicPr/>
          <p:nvPr/>
        </p:nvPicPr>
        <p:blipFill rotWithShape="1">
          <a:blip r:embed="rId8">
            <a:alphaModFix/>
          </a:blip>
          <a:stretch/>
        </p:blipFill>
        <p:spPr bwMode="auto">
          <a:xfrm>
            <a:off x="971550" y="4493865"/>
            <a:ext cx="762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6202040" name="Google Shape;114;p14" descr="image.png"/>
          <p:cNvPicPr/>
          <p:nvPr/>
        </p:nvPicPr>
        <p:blipFill rotWithShape="1">
          <a:blip r:embed="rId8">
            <a:alphaModFix/>
          </a:blip>
          <a:stretch/>
        </p:blipFill>
        <p:spPr bwMode="auto">
          <a:xfrm>
            <a:off x="6677025" y="3110954"/>
            <a:ext cx="762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7547374" name="Google Shape;115;p14" descr="image.png"/>
          <p:cNvPicPr/>
          <p:nvPr/>
        </p:nvPicPr>
        <p:blipFill rotWithShape="1">
          <a:blip r:embed="rId8">
            <a:alphaModFix/>
          </a:blip>
          <a:stretch/>
        </p:blipFill>
        <p:spPr bwMode="auto">
          <a:xfrm>
            <a:off x="6677025" y="3802409"/>
            <a:ext cx="762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40164" name="Google Shape;116;p14" descr="image.png"/>
          <p:cNvPicPr/>
          <p:nvPr/>
        </p:nvPicPr>
        <p:blipFill rotWithShape="1">
          <a:blip r:embed="rId8">
            <a:alphaModFix/>
          </a:blip>
          <a:stretch/>
        </p:blipFill>
        <p:spPr bwMode="auto">
          <a:xfrm>
            <a:off x="6677025" y="4493865"/>
            <a:ext cx="762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A0A0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24914660" name="Google Shape;121;p15" descr="image.png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4102770" name="Google Shape;123;p15"/>
          <p:cNvSpPr txBox="1"/>
          <p:nvPr/>
        </p:nvSpPr>
        <p:spPr bwMode="auto">
          <a:xfrm>
            <a:off x="581025" y="581025"/>
            <a:ext cx="5540692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</a:rPr>
              <a:t>2. </a:t>
            </a:r>
            <a:r>
              <a:rPr lang="en-US" sz="3600" b="1" i="0" u="none" strike="noStrike" cap="none">
                <a:solidFill>
                  <a:srgbClr val="00FF9D"/>
                </a:solidFill>
                <a:latin typeface="Urbanist"/>
                <a:ea typeface="Urbanist"/>
                <a:cs typeface="Urbanist"/>
              </a:rPr>
              <a:t>Mobil</a:t>
            </a: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</a:rPr>
              <a:t> Terminal Modülü</a:t>
            </a:r>
            <a:endParaRPr/>
          </a:p>
        </p:txBody>
      </p:sp>
      <p:sp>
        <p:nvSpPr>
          <p:cNvPr id="934171321" name="Google Shape;124;p15"/>
          <p:cNvSpPr txBox="1"/>
          <p:nvPr/>
        </p:nvSpPr>
        <p:spPr bwMode="auto">
          <a:xfrm>
            <a:off x="1009650" y="1510605"/>
            <a:ext cx="4848225" cy="71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</a:rPr>
              <a:t> </a:t>
            </a:r>
            <a:r>
              <a:rPr lang="en-US" sz="15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Android Kotlin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</a:rPr>
              <a:t> Doğal (Native) mobil uygulama mimarisi.</a:t>
            </a:r>
            <a:endParaRPr/>
          </a:p>
        </p:txBody>
      </p:sp>
      <p:sp>
        <p:nvSpPr>
          <p:cNvPr id="1538313827" name="Google Shape;125;p15"/>
          <p:cNvSpPr txBox="1"/>
          <p:nvPr/>
        </p:nvSpPr>
        <p:spPr bwMode="auto">
          <a:xfrm>
            <a:off x="1009650" y="2514451"/>
            <a:ext cx="4848225" cy="1022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Donanım Sensörü Entegrasyonu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</a:rPr>
              <a:t> Cihaz ivmeölçer ve jireskop sensörleri üzerinden arka plan sarsıntı algılama.</a:t>
            </a:r>
            <a:endParaRPr/>
          </a:p>
        </p:txBody>
      </p:sp>
      <p:sp>
        <p:nvSpPr>
          <p:cNvPr id="1957356802" name="Google Shape;126;p15"/>
          <p:cNvSpPr txBox="1"/>
          <p:nvPr/>
        </p:nvSpPr>
        <p:spPr bwMode="auto">
          <a:xfrm>
            <a:off x="1009650" y="3823096"/>
            <a:ext cx="4848225" cy="1022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Yerel Yapay Zeka (On-Device)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</a:rPr>
              <a:t> İnternet gerektirmeyen (Offline) LLM ve Ses tanıma işlemcisi.</a:t>
            </a:r>
            <a:endParaRPr/>
          </a:p>
        </p:txBody>
      </p:sp>
      <p:sp>
        <p:nvSpPr>
          <p:cNvPr id="357087224" name="Google Shape;127;p15"/>
          <p:cNvSpPr txBox="1"/>
          <p:nvPr/>
        </p:nvSpPr>
        <p:spPr bwMode="auto">
          <a:xfrm>
            <a:off x="1009650" y="5131742"/>
            <a:ext cx="4848225" cy="1022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P2P Mesh Ağı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</a:rPr>
              <a:t> Terminal düğümleri arasında eşler arası bağlantı (Peer-to-Peer) protokolü.</a:t>
            </a:r>
            <a:endParaRPr/>
          </a:p>
        </p:txBody>
      </p:sp>
      <p:pic>
        <p:nvPicPr>
          <p:cNvPr id="1533640693" name="Google Shape;128;p15" descr="image.png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581025" y="1524892"/>
            <a:ext cx="25717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832241" name="Google Shape;129;p15" descr="image.png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581025" y="2523976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4296449" name="Google Shape;130;p15" descr="image.png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581025" y="383262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546212" name="Google Shape;131;p15" descr="image.png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581025" y="514126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262141" name="Google Shape;132;p15" title="mobile.png"/>
          <p:cNvPicPr/>
          <p:nvPr/>
        </p:nvPicPr>
        <p:blipFill rotWithShape="1">
          <a:blip r:embed="rId8">
            <a:alphaModFix/>
          </a:blip>
          <a:srcRect l="5926" t="5364" r="5891" b="10686"/>
          <a:stretch/>
        </p:blipFill>
        <p:spPr bwMode="auto">
          <a:xfrm>
            <a:off x="6702742" y="9525"/>
            <a:ext cx="4167833" cy="683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A0A0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7246244" name="Google Shape;137;p16" title="Gemini_Generated_Image_57e27t57e27t57e2.png"/>
          <p:cNvPicPr/>
          <p:nvPr/>
        </p:nvPicPr>
        <p:blipFill rotWithShape="1">
          <a:blip r:embed="rId3">
            <a:alphaModFix/>
          </a:blip>
          <a:srcRect l="16216" t="-12044" r="44445" b="-4546"/>
          <a:stretch/>
        </p:blipFill>
        <p:spPr bwMode="auto">
          <a:xfrm>
            <a:off x="7155950" y="0"/>
            <a:ext cx="5036052" cy="6858224"/>
          </a:xfrm>
          <a:prstGeom prst="rect">
            <a:avLst/>
          </a:prstGeom>
          <a:noFill/>
          <a:ln>
            <a:noFill/>
          </a:ln>
        </p:spPr>
      </p:pic>
      <p:sp>
        <p:nvSpPr>
          <p:cNvPr id="162570477" name="Google Shape;138;p16"/>
          <p:cNvSpPr txBox="1"/>
          <p:nvPr/>
        </p:nvSpPr>
        <p:spPr bwMode="auto">
          <a:xfrm>
            <a:off x="581025" y="581025"/>
            <a:ext cx="5540692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</a:rPr>
              <a:t>3. </a:t>
            </a:r>
            <a:r>
              <a:rPr lang="en-US" sz="3600" b="1" i="0" u="none" strike="noStrike" cap="none">
                <a:solidFill>
                  <a:srgbClr val="00FF9D"/>
                </a:solidFill>
                <a:latin typeface="Urbanist"/>
                <a:ea typeface="Urbanist"/>
                <a:cs typeface="Urbanist"/>
              </a:rPr>
              <a:t>Admin</a:t>
            </a: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</a:rPr>
              <a:t> Panel Mimarisi</a:t>
            </a:r>
            <a:endParaRPr/>
          </a:p>
        </p:txBody>
      </p:sp>
      <p:sp>
        <p:nvSpPr>
          <p:cNvPr id="16385825" name="Google Shape;139;p16"/>
          <p:cNvSpPr txBox="1"/>
          <p:nvPr/>
        </p:nvSpPr>
        <p:spPr bwMode="auto">
          <a:xfrm>
            <a:off x="1009650" y="2083146"/>
            <a:ext cx="4848225" cy="71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</a:rPr>
              <a:t> </a:t>
            </a:r>
            <a:r>
              <a:rPr lang="en-US" sz="15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Next.js &amp; React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</a:rPr>
              <a:t> SSR destekli ve modüler web dashboard altyapısı.</a:t>
            </a:r>
            <a:endParaRPr/>
          </a:p>
        </p:txBody>
      </p:sp>
      <p:sp>
        <p:nvSpPr>
          <p:cNvPr id="1900427687" name="Google Shape;140;p16"/>
          <p:cNvSpPr txBox="1"/>
          <p:nvPr/>
        </p:nvSpPr>
        <p:spPr bwMode="auto">
          <a:xfrm>
            <a:off x="1009650" y="3086992"/>
            <a:ext cx="48483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TailwindCSS, Radix&amp;Lucide, Sonner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</a:rPr>
              <a:t> </a:t>
            </a:r>
            <a:r>
              <a:rPr lang="en-US" sz="1500">
                <a:solidFill>
                  <a:srgbClr val="CCCCCC"/>
                </a:solidFill>
                <a:latin typeface="Urbanist"/>
                <a:ea typeface="Urbanist"/>
                <a:cs typeface="Urbanist"/>
              </a:rPr>
              <a:t>Hızlı ve optimize edilmiş gözü yormama odaklı modern arayüz tasarımı, kararlı UI bileşenleri,anlık durum ikonları , kullanıcıyı rahatsız etmeyen hızlı toast bildirim yapısı.</a:t>
            </a:r>
            <a:endParaRPr/>
          </a:p>
        </p:txBody>
      </p:sp>
      <p:sp>
        <p:nvSpPr>
          <p:cNvPr id="764525670" name="Google Shape;141;p16"/>
          <p:cNvSpPr txBox="1"/>
          <p:nvPr/>
        </p:nvSpPr>
        <p:spPr bwMode="auto">
          <a:xfrm>
            <a:off x="1024769" y="4803920"/>
            <a:ext cx="48483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Leaflet&amp;React-leaflet  </a:t>
            </a:r>
            <a:r>
              <a:rPr lang="en-US" sz="1500">
                <a:solidFill>
                  <a:srgbClr val="CCCCCC"/>
                </a:solidFill>
                <a:latin typeface="Urbanist"/>
                <a:ea typeface="Urbanist"/>
                <a:cs typeface="Urbanist"/>
              </a:rPr>
              <a:t>Hafif ve yüksek performanslı harita motoru. MarkerCluster teknolojisi ile sahadaki yüzlerce ihbar noktasını karmaşa yaratmadan akıllıca gruplama.</a:t>
            </a:r>
            <a:endParaRPr>
              <a:solidFill>
                <a:srgbClr val="B7B7B7"/>
              </a:solidFill>
            </a:endParaRPr>
          </a:p>
        </p:txBody>
      </p:sp>
      <p:pic>
        <p:nvPicPr>
          <p:cNvPr id="386013004" name="Google Shape;142;p16" descr="image.png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581025" y="2097434"/>
            <a:ext cx="2286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786564" name="Google Shape;143;p16" descr="image.png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566738" y="479559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64050" name="Google Shape;144;p16" descr="image.png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581025" y="308698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7701748" name="Google Shape;145;p16" title="Gemini_Generated_Image_5dn0ie5dn0ie5dn0.png"/>
          <p:cNvPicPr/>
          <p:nvPr/>
        </p:nvPicPr>
        <p:blipFill rotWithShape="1">
          <a:blip r:embed="rId7">
            <a:alphaModFix/>
          </a:blip>
          <a:srcRect l="16829" t="0" r="38780" b="0"/>
          <a:stretch/>
        </p:blipFill>
        <p:spPr bwMode="auto">
          <a:xfrm>
            <a:off x="6779850" y="0"/>
            <a:ext cx="5412152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A0A0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802813" name="Google Shape;150;p17" descr="image.png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8825782" name="Google Shape;151;p17"/>
          <p:cNvSpPr txBox="1"/>
          <p:nvPr/>
        </p:nvSpPr>
        <p:spPr bwMode="auto">
          <a:xfrm flipH="0" flipV="0">
            <a:off x="3794454" y="2049808"/>
            <a:ext cx="4387525" cy="914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0" b="1" i="0" u="none" strike="noStrike" cap="none">
                <a:solidFill>
                  <a:srgbClr val="00FF9D"/>
                </a:solidFill>
                <a:latin typeface="Urbanist"/>
                <a:ea typeface="Urbanist"/>
                <a:cs typeface="Urbanist"/>
              </a:rPr>
              <a:t>Teşekkürler</a:t>
            </a:r>
            <a:endParaRPr/>
          </a:p>
        </p:txBody>
      </p:sp>
      <p:sp>
        <p:nvSpPr>
          <p:cNvPr id="1326211306" name="Google Shape;152;p17"/>
          <p:cNvSpPr txBox="1"/>
          <p:nvPr/>
        </p:nvSpPr>
        <p:spPr bwMode="auto">
          <a:xfrm>
            <a:off x="3452812" y="3154709"/>
            <a:ext cx="52863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>
                <a:solidFill>
                  <a:srgbClr val="B3B3B3"/>
                </a:solidFill>
                <a:latin typeface="Urbanist"/>
                <a:ea typeface="Urbanist"/>
                <a:cs typeface="Urbanist"/>
              </a:rPr>
              <a:t>Mimari</a:t>
            </a:r>
            <a:r>
              <a:rPr lang="en-US" sz="1800" b="0" i="0" u="none" strike="noStrike" cap="none">
                <a:solidFill>
                  <a:srgbClr val="B3B3B3"/>
                </a:solidFill>
                <a:latin typeface="Urbanist"/>
                <a:ea typeface="Urbanist"/>
                <a:cs typeface="Urbanist"/>
              </a:rPr>
              <a:t> </a:t>
            </a:r>
            <a:r>
              <a:rPr lang="en-US" sz="1800" b="0" i="0" u="none" strike="noStrike" cap="none">
                <a:solidFill>
                  <a:srgbClr val="B3B3B3"/>
                </a:solidFill>
                <a:latin typeface="Urbanist"/>
                <a:ea typeface="Urbanist"/>
                <a:cs typeface="Urbanist"/>
              </a:rPr>
              <a:t>Yapı</a:t>
            </a:r>
            <a:r>
              <a:rPr lang="en-US" sz="1800" b="0" i="0" u="none" strike="noStrike" cap="none">
                <a:solidFill>
                  <a:srgbClr val="B3B3B3"/>
                </a:solidFill>
                <a:latin typeface="Urbanist"/>
                <a:ea typeface="Urbanist"/>
                <a:cs typeface="Urbanist"/>
              </a:rPr>
              <a:t> </a:t>
            </a:r>
            <a:r>
              <a:rPr lang="en-US" sz="1800" b="0" i="0" u="none" strike="noStrike" cap="none">
                <a:solidFill>
                  <a:srgbClr val="B3B3B3"/>
                </a:solidFill>
                <a:latin typeface="Urbanist"/>
                <a:ea typeface="Urbanist"/>
                <a:cs typeface="Urbanist"/>
              </a:rPr>
              <a:t>ve</a:t>
            </a:r>
            <a:r>
              <a:rPr lang="en-US" sz="1800" b="0" i="0" u="none" strike="noStrike" cap="none">
                <a:solidFill>
                  <a:srgbClr val="B3B3B3"/>
                </a:solidFill>
                <a:latin typeface="Urbanist"/>
                <a:ea typeface="Urbanist"/>
                <a:cs typeface="Urbanist"/>
              </a:rPr>
              <a:t> Teknik </a:t>
            </a:r>
            <a:r>
              <a:rPr lang="en-US" sz="1800" b="0" i="0" u="none" strike="noStrike" cap="none">
                <a:solidFill>
                  <a:srgbClr val="B3B3B3"/>
                </a:solidFill>
                <a:latin typeface="Urbanist"/>
                <a:ea typeface="Urbanist"/>
                <a:cs typeface="Urbanist"/>
              </a:rPr>
              <a:t>Detaylar</a:t>
            </a:r>
            <a:r>
              <a:rPr lang="en-US" sz="1800" b="0" i="0" u="none" strike="noStrike" cap="none">
                <a:solidFill>
                  <a:srgbClr val="B3B3B3"/>
                </a:solidFill>
                <a:latin typeface="Urbanist"/>
                <a:ea typeface="Urbanist"/>
                <a:cs typeface="Urbanist"/>
              </a:rPr>
              <a:t> </a:t>
            </a:r>
            <a:endParaRPr/>
          </a:p>
        </p:txBody>
      </p:sp>
      <p:sp>
        <p:nvSpPr>
          <p:cNvPr id="592767" name="Google Shape;153;p17"/>
          <p:cNvSpPr txBox="1"/>
          <p:nvPr/>
        </p:nvSpPr>
        <p:spPr bwMode="auto">
          <a:xfrm>
            <a:off x="4924425" y="5284515"/>
            <a:ext cx="23431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1" i="0" u="none" strike="noStrike" cap="none">
                <a:solidFill>
                  <a:srgbClr val="00FF9D"/>
                </a:solidFill>
                <a:latin typeface="Urbanist"/>
                <a:ea typeface="Urbanist"/>
                <a:cs typeface="Urbanist"/>
              </a:rPr>
              <a:t>INSOMNIA MENTALLY</a:t>
            </a:r>
            <a:endParaRPr/>
          </a:p>
        </p:txBody>
      </p:sp>
      <p:sp>
        <p:nvSpPr>
          <p:cNvPr id="1232631731" name="Google Shape;154;p17"/>
          <p:cNvSpPr txBox="1"/>
          <p:nvPr/>
        </p:nvSpPr>
        <p:spPr bwMode="auto">
          <a:xfrm>
            <a:off x="4924425" y="3927524"/>
            <a:ext cx="23431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</a:rPr>
              <a:t>ADS (Acil Durum </a:t>
            </a:r>
            <a:r>
              <a:rPr lang="en-US" sz="135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</a:rPr>
              <a:t>Sistemi</a:t>
            </a:r>
            <a:r>
              <a:rPr lang="en-US" sz="135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</a:rPr>
              <a:t>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</cp:revision>
  <dcterms:modified xsi:type="dcterms:W3CDTF">2026-05-17T14:17:09Z</dcterms:modified>
</cp:coreProperties>
</file>